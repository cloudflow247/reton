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716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146304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400" kern="0" dirty="0">
                <a:solidFill>
                  <a:srgbClr val="1EC98A"/>
                </a:solidFill>
              </a:rPr>
              <a:t>RETON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640080" y="1920240"/>
            <a:ext cx="100584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E8F3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Payments you can take back.</a:t>
            </a:r>
            <a:endParaRPr lang="en-US" sz="4200" dirty="0"/>
          </a:p>
        </p:txBody>
      </p:sp>
      <p:sp>
        <p:nvSpPr>
          <p:cNvPr id="4" name="Text 2"/>
          <p:cNvSpPr/>
          <p:nvPr/>
        </p:nvSpPr>
        <p:spPr>
          <a:xfrm>
            <a:off x="640080" y="3566160"/>
            <a:ext cx="100584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8AA89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Africa’s trust-first digital banking platform — built so a mistake or a scam doesn’t have to be final.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640080" y="4846320"/>
            <a:ext cx="100584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AA89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RETON PTE LTD  ·  retonpay.com  ·  Licensed rails via ALAT by Wema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716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1EC9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PROBLEM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105156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E8F3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Sending money is easy.</a:t>
            </a:r>
            <a:endParaRPr lang="en-US" sz="3600" dirty="0"/>
          </a:p>
          <a:p>
            <a:pPr indent="0" marL="0">
              <a:buNone/>
            </a:pPr>
            <a:r>
              <a:rPr lang="en-US" sz="3600" b="1" dirty="0">
                <a:solidFill>
                  <a:srgbClr val="E8F3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Taking it back is not.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640080" y="2194560"/>
            <a:ext cx="10515600" cy="3657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2000" dirty="0">
                <a:solidFill>
                  <a:srgbClr val="E8F3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wrong digit and the money is gone.</a:t>
            </a:r>
            <a:endParaRPr lang="en-US" sz="2000" dirty="0"/>
          </a:p>
          <a:p>
            <a:pPr marL="342900" indent="-342900">
              <a:buSzPct val="100000"/>
              <a:buChar char="•"/>
            </a:pPr>
            <a:r>
              <a:rPr lang="en-US" sz="2000" dirty="0">
                <a:solidFill>
                  <a:srgbClr val="E8F3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Scams move faster than bank disputes.</a:t>
            </a:r>
            <a:endParaRPr lang="en-US" sz="2000" dirty="0"/>
          </a:p>
          <a:p>
            <a:pPr marL="342900" indent="-342900">
              <a:buSzPct val="100000"/>
              <a:buChar char="•"/>
            </a:pPr>
            <a:r>
              <a:rPr lang="en-US" sz="2000" dirty="0">
                <a:solidFill>
                  <a:srgbClr val="E8F3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Most wallets optimise for “send and forget.”</a:t>
            </a:r>
            <a:endParaRPr lang="en-US" sz="2000" dirty="0"/>
          </a:p>
          <a:p>
            <a:pPr marL="342900" indent="-342900">
              <a:buSzPct val="100000"/>
              <a:buChar char="•"/>
            </a:pPr>
            <a:r>
              <a:rPr lang="en-US" sz="2000" dirty="0">
                <a:solidFill>
                  <a:srgbClr val="E8F3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People don’t need another clone — they need a second chance.</a:t>
            </a:r>
            <a:endParaRPr lang="en-US" sz="2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716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1EC9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INSIGHT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1645920"/>
            <a:ext cx="1051560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8F3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Trust isn’t a badge on the login screen.</a:t>
            </a:r>
            <a:endParaRPr lang="en-US" sz="3000" dirty="0"/>
          </a:p>
          <a:p>
            <a:pPr indent="0" marL="0">
              <a:buNone/>
            </a:pPr>
            <a:r>
              <a:rPr lang="en-US" sz="3000" b="1" dirty="0">
                <a:solidFill>
                  <a:srgbClr val="E8F3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It’s what happens after the money moves.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4023360"/>
            <a:ext cx="100584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8AA89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Reton is built for the moment something goes wrong — not just the moment you hit send.</a:t>
            </a:r>
            <a:endParaRPr lang="en-US" sz="1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716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1EC9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 · LIVE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68580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E8F3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first wallet with an undo button for money.</a:t>
            </a:r>
            <a:endParaRPr lang="en-US" sz="2600" dirty="0"/>
          </a:p>
        </p:txBody>
      </p:sp>
      <p:pic>
        <p:nvPicPr>
          <p:cNvPr id="4" name="Image 0" descr="C:\Users\roten\Documents\reton\presentations\screenshots\01-hom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1417320"/>
            <a:ext cx="10881360" cy="475488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716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1EC9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FLAGSHIP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E8F3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Callback Protection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640080" y="1463040"/>
            <a:ext cx="100584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8AA89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Hold a payment until you’re ready. Release it when it feels right — or pull it back if something’s off.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640080" y="2651760"/>
            <a:ext cx="2011680" cy="502920"/>
          </a:xfrm>
          <a:prstGeom prst="roundRect">
            <a:avLst>
              <a:gd name="adj" fmla="val 45455"/>
            </a:avLst>
          </a:prstGeom>
          <a:solidFill>
            <a:srgbClr val="0F211C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2697480"/>
            <a:ext cx="2011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8F3EE"/>
                </a:solidFill>
              </a:rPr>
              <a:t>Send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2743200" y="2697480"/>
            <a:ext cx="365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8AA89D"/>
                </a:solidFill>
              </a:rPr>
              <a:t>→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3108960" y="2651760"/>
            <a:ext cx="2926080" cy="502920"/>
          </a:xfrm>
          <a:prstGeom prst="roundRect">
            <a:avLst>
              <a:gd name="adj" fmla="val 45455"/>
            </a:avLst>
          </a:prstGeom>
          <a:solidFill>
            <a:srgbClr val="0F211C"/>
          </a:solidFill>
          <a:ln/>
        </p:spPr>
      </p:sp>
      <p:sp>
        <p:nvSpPr>
          <p:cNvPr id="9" name="Text 7"/>
          <p:cNvSpPr/>
          <p:nvPr/>
        </p:nvSpPr>
        <p:spPr>
          <a:xfrm>
            <a:off x="3108960" y="2697480"/>
            <a:ext cx="2926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8A54B"/>
                </a:solidFill>
              </a:rPr>
              <a:t>Protected / Pending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6126480" y="2697480"/>
            <a:ext cx="365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8AA89D"/>
                </a:solidFill>
              </a:rPr>
              <a:t>→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6492240" y="2651760"/>
            <a:ext cx="2011680" cy="502920"/>
          </a:xfrm>
          <a:prstGeom prst="roundRect">
            <a:avLst>
              <a:gd name="adj" fmla="val 45455"/>
            </a:avLst>
          </a:prstGeom>
          <a:solidFill>
            <a:srgbClr val="0F211C"/>
          </a:solidFill>
          <a:ln/>
        </p:spPr>
      </p:sp>
      <p:sp>
        <p:nvSpPr>
          <p:cNvPr id="12" name="Text 10"/>
          <p:cNvSpPr/>
          <p:nvPr/>
        </p:nvSpPr>
        <p:spPr>
          <a:xfrm>
            <a:off x="6492240" y="2697480"/>
            <a:ext cx="2011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C98A"/>
                </a:solidFill>
              </a:rPr>
              <a:t>Release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686800" y="2697480"/>
            <a:ext cx="2286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8F3EE"/>
                </a:solidFill>
              </a:rPr>
              <a:t>or Callback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640080" y="3474720"/>
            <a:ext cx="10515600" cy="3657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2000" dirty="0">
                <a:solidFill>
                  <a:srgbClr val="E8F3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Receiver sees “Payment Protected.”</a:t>
            </a:r>
            <a:endParaRPr lang="en-US" sz="2000" dirty="0"/>
          </a:p>
          <a:p>
            <a:pPr marL="342900" indent="-342900">
              <a:buSzPct val="100000"/>
              <a:buChar char="•"/>
            </a:pPr>
            <a:r>
              <a:rPr lang="en-US" sz="2000" dirty="0">
                <a:solidFill>
                  <a:srgbClr val="E8F3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step is logged on a visible timeline.</a:t>
            </a:r>
            <a:endParaRPr lang="en-US" sz="2000" dirty="0"/>
          </a:p>
          <a:p>
            <a:pPr marL="342900" indent="-342900">
              <a:buSzPct val="100000"/>
              <a:buChar char="•"/>
            </a:pPr>
            <a:r>
              <a:rPr lang="en-US" sz="2000" dirty="0">
                <a:solidFill>
                  <a:srgbClr val="E8F3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Sender, receiver, and admin can act with clarity.</a:t>
            </a:r>
            <a:endParaRPr lang="en-US" sz="2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716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1EC9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IT WORKS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68580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E8F3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Clear flows. Safer money.</a:t>
            </a:r>
            <a:endParaRPr lang="en-US" sz="2600" dirty="0"/>
          </a:p>
        </p:txBody>
      </p:sp>
      <p:pic>
        <p:nvPicPr>
          <p:cNvPr id="4" name="Image 0" descr="C:\Users\roten\Documents\reton\presentations\screenshots\02-how-it-work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1325880"/>
            <a:ext cx="10881360" cy="493776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716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1EC9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WE BUILT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73152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8F3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full trust stack — not slideware.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1645920"/>
            <a:ext cx="3520440" cy="1828800"/>
          </a:xfrm>
          <a:prstGeom prst="roundRect">
            <a:avLst>
              <a:gd name="adj" fmla="val 10000"/>
            </a:avLst>
          </a:prstGeom>
          <a:solidFill>
            <a:srgbClr val="0F211C"/>
          </a:solidFill>
          <a:ln/>
        </p:spPr>
      </p:sp>
      <p:sp>
        <p:nvSpPr>
          <p:cNvPr id="5" name="Text 3"/>
          <p:cNvSpPr/>
          <p:nvPr/>
        </p:nvSpPr>
        <p:spPr>
          <a:xfrm>
            <a:off x="868680" y="1965960"/>
            <a:ext cx="3063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8F3EE"/>
                </a:solidFill>
              </a:rPr>
              <a:t>Wrong-transfer recovery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868680" y="2468880"/>
            <a:ext cx="3063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AA89D"/>
                </a:solidFill>
              </a:rPr>
              <a:t>Report a mistake. Hold eligible funds. Track the case.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389120" y="1645920"/>
            <a:ext cx="3520440" cy="1828800"/>
          </a:xfrm>
          <a:prstGeom prst="roundRect">
            <a:avLst>
              <a:gd name="adj" fmla="val 10000"/>
            </a:avLst>
          </a:prstGeom>
          <a:solidFill>
            <a:srgbClr val="0F211C"/>
          </a:solidFill>
          <a:ln/>
        </p:spPr>
      </p:sp>
      <p:sp>
        <p:nvSpPr>
          <p:cNvPr id="8" name="Text 6"/>
          <p:cNvSpPr/>
          <p:nvPr/>
        </p:nvSpPr>
        <p:spPr>
          <a:xfrm>
            <a:off x="4617720" y="1965960"/>
            <a:ext cx="3063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8F3EE"/>
                </a:solidFill>
              </a:rPr>
              <a:t>Fraud signals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4617720" y="2468880"/>
            <a:ext cx="3063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AA89D"/>
                </a:solidFill>
              </a:rPr>
              <a:t>Rule-based scoring with admin visibility.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8138160" y="1645920"/>
            <a:ext cx="3520440" cy="1828800"/>
          </a:xfrm>
          <a:prstGeom prst="roundRect">
            <a:avLst>
              <a:gd name="adj" fmla="val 10000"/>
            </a:avLst>
          </a:prstGeom>
          <a:solidFill>
            <a:srgbClr val="0F211C"/>
          </a:solidFill>
          <a:ln/>
        </p:spPr>
      </p:sp>
      <p:sp>
        <p:nvSpPr>
          <p:cNvPr id="11" name="Text 9"/>
          <p:cNvSpPr/>
          <p:nvPr/>
        </p:nvSpPr>
        <p:spPr>
          <a:xfrm>
            <a:off x="8366760" y="1965960"/>
            <a:ext cx="3063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8F3EE"/>
                </a:solidFill>
              </a:rPr>
              <a:t>Double-entry wallet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8366760" y="2468880"/>
            <a:ext cx="3063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AA89D"/>
                </a:solidFill>
              </a:rPr>
              <a:t>Every naira ledgered — no silent tweaks.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40080" y="3749040"/>
            <a:ext cx="3520440" cy="1828800"/>
          </a:xfrm>
          <a:prstGeom prst="roundRect">
            <a:avLst>
              <a:gd name="adj" fmla="val 10000"/>
            </a:avLst>
          </a:prstGeom>
          <a:solidFill>
            <a:srgbClr val="0F211C"/>
          </a:solidFill>
          <a:ln/>
        </p:spPr>
      </p:sp>
      <p:sp>
        <p:nvSpPr>
          <p:cNvPr id="14" name="Text 12"/>
          <p:cNvSpPr/>
          <p:nvPr/>
        </p:nvSpPr>
        <p:spPr>
          <a:xfrm>
            <a:off x="868680" y="4069080"/>
            <a:ext cx="3063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8F3EE"/>
                </a:solidFill>
              </a:rPr>
              <a:t>KYC tiers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868680" y="4572000"/>
            <a:ext cx="3063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AA89D"/>
                </a:solidFill>
              </a:rPr>
              <a:t>CBN-aligned limits. BVN unlock for funding.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4389120" y="3749040"/>
            <a:ext cx="3520440" cy="1828800"/>
          </a:xfrm>
          <a:prstGeom prst="roundRect">
            <a:avLst>
              <a:gd name="adj" fmla="val 10000"/>
            </a:avLst>
          </a:prstGeom>
          <a:solidFill>
            <a:srgbClr val="0F211C"/>
          </a:solidFill>
          <a:ln/>
        </p:spPr>
      </p:sp>
      <p:sp>
        <p:nvSpPr>
          <p:cNvPr id="17" name="Text 15"/>
          <p:cNvSpPr/>
          <p:nvPr/>
        </p:nvSpPr>
        <p:spPr>
          <a:xfrm>
            <a:off x="4617720" y="4069080"/>
            <a:ext cx="3063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8F3EE"/>
                </a:solidFill>
              </a:rPr>
              <a:t>Protected marketplace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4617720" y="4572000"/>
            <a:ext cx="3063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AA89D"/>
                </a:solidFill>
              </a:rPr>
              <a:t>Escrow-style protection until delivery confirmed.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8138160" y="3749040"/>
            <a:ext cx="3520440" cy="1828800"/>
          </a:xfrm>
          <a:prstGeom prst="roundRect">
            <a:avLst>
              <a:gd name="adj" fmla="val 10000"/>
            </a:avLst>
          </a:prstGeom>
          <a:solidFill>
            <a:srgbClr val="0F211C"/>
          </a:solidFill>
          <a:ln/>
        </p:spPr>
      </p:sp>
      <p:sp>
        <p:nvSpPr>
          <p:cNvPr id="20" name="Text 18"/>
          <p:cNvSpPr/>
          <p:nvPr/>
        </p:nvSpPr>
        <p:spPr>
          <a:xfrm>
            <a:off x="8366760" y="4069080"/>
            <a:ext cx="3063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8F3EE"/>
                </a:solidFill>
              </a:rPr>
              <a:t>Money-aware support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8366760" y="4572000"/>
            <a:ext cx="3063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AA89D"/>
                </a:solidFill>
              </a:rPr>
              <a:t>Find a tx, explain protection, escalate.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716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1EC9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 · LIVE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640080"/>
            <a:ext cx="10515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E8F3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Security posture. Business on the way.</a:t>
            </a:r>
            <a:endParaRPr lang="en-US" sz="2400" dirty="0"/>
          </a:p>
        </p:txBody>
      </p:sp>
      <p:pic>
        <p:nvPicPr>
          <p:cNvPr id="4" name="Image 0" descr="C:\Users\roten\Documents\reton\presentations\screenshots\03-securit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1280160"/>
            <a:ext cx="5486400" cy="4846320"/>
          </a:xfrm>
          <a:prstGeom prst="rect">
            <a:avLst/>
          </a:prstGeom>
        </p:spPr>
      </p:pic>
      <p:pic>
        <p:nvPicPr>
          <p:cNvPr id="5" name="Image 1" descr="C:\Users\roten\Documents\reton\presentations\screenshots\04-busines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72200" y="1280160"/>
            <a:ext cx="54864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716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1EC9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ALATPAY INTEGRATION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8F3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 rails. Not a mock bank.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737360"/>
            <a:ext cx="5212080" cy="2377440"/>
          </a:xfrm>
          <a:prstGeom prst="roundRect">
            <a:avLst>
              <a:gd name="adj" fmla="val 7692"/>
            </a:avLst>
          </a:prstGeom>
          <a:solidFill>
            <a:srgbClr val="0F211C"/>
          </a:solidFill>
          <a:ln/>
        </p:spPr>
      </p:sp>
      <p:sp>
        <p:nvSpPr>
          <p:cNvPr id="5" name="Text 3"/>
          <p:cNvSpPr/>
          <p:nvPr/>
        </p:nvSpPr>
        <p:spPr>
          <a:xfrm>
            <a:off x="914400" y="1965960"/>
            <a:ext cx="4663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8F3EE"/>
                </a:solidFill>
              </a:rPr>
              <a:t>What we use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914400" y="2468880"/>
            <a:ext cx="466344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8AA89D"/>
                </a:solidFill>
              </a:rPr>
              <a:t>Collections &amp; payment links · Static virtual accounts · BVN OTP · Signed webhooks · Transaction verification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126480" y="1737360"/>
            <a:ext cx="5212080" cy="2377440"/>
          </a:xfrm>
          <a:prstGeom prst="roundRect">
            <a:avLst>
              <a:gd name="adj" fmla="val 7692"/>
            </a:avLst>
          </a:prstGeom>
          <a:solidFill>
            <a:srgbClr val="0F211C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0" y="1965960"/>
            <a:ext cx="4663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8F3EE"/>
                </a:solidFill>
              </a:rPr>
              <a:t>Where money enters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6400800" y="2468880"/>
            <a:ext cx="466344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8AA89D"/>
                </a:solidFill>
              </a:rPr>
              <a:t>Users fund Reton wallets on ALATPay. We credit our ledger only after verified settlement.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640080" y="4572000"/>
            <a:ext cx="100584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8AA89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ALAT by Wema gives us a licensed Nigerian bank rail — so Callback Protection sits on infrastructure people can trust.</a:t>
            </a:r>
            <a:endParaRPr lang="en-US" sz="1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716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1EC9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 · LIVE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640080"/>
            <a:ext cx="10515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E8F3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Reachable. Self-explanatory.</a:t>
            </a:r>
            <a:endParaRPr lang="en-US" sz="2400" dirty="0"/>
          </a:p>
        </p:txBody>
      </p:sp>
      <p:pic>
        <p:nvPicPr>
          <p:cNvPr id="4" name="Image 0" descr="C:\Users\roten\Documents\reton\presentations\screenshots\05-contac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1280160"/>
            <a:ext cx="5486400" cy="4846320"/>
          </a:xfrm>
          <a:prstGeom prst="rect">
            <a:avLst/>
          </a:prstGeom>
        </p:spPr>
      </p:pic>
      <p:pic>
        <p:nvPicPr>
          <p:cNvPr id="5" name="Image 1" descr="C:\Users\roten\Documents\reton\presentations\screenshots\06-faq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72200" y="1280160"/>
            <a:ext cx="54864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716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1EC9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RETON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105156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E8F3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We’re not another wallet.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640080" y="2194560"/>
            <a:ext cx="10515600" cy="3657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2000" dirty="0">
                <a:solidFill>
                  <a:srgbClr val="E8F3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Trust layer — protection and recovery are the product.</a:t>
            </a:r>
            <a:endParaRPr lang="en-US" sz="2000" dirty="0"/>
          </a:p>
          <a:p>
            <a:pPr marL="342900" indent="-342900">
              <a:buSzPct val="100000"/>
              <a:buChar char="•"/>
            </a:pPr>
            <a:r>
              <a:rPr lang="en-US" sz="2000" dirty="0">
                <a:solidFill>
                  <a:srgbClr val="E8F3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Visible timeline — every money event is explainable.</a:t>
            </a:r>
            <a:endParaRPr lang="en-US" sz="2000" dirty="0"/>
          </a:p>
          <a:p>
            <a:pPr marL="342900" indent="-342900">
              <a:buSzPct val="100000"/>
              <a:buChar char="•"/>
            </a:pPr>
            <a:r>
              <a:rPr lang="en-US" sz="2000" dirty="0">
                <a:solidFill>
                  <a:srgbClr val="E8F3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Licensed settlement — ALATPay / Wema.</a:t>
            </a:r>
            <a:endParaRPr lang="en-US" sz="2000" dirty="0"/>
          </a:p>
          <a:p>
            <a:pPr marL="342900" indent="-342900">
              <a:buSzPct val="100000"/>
              <a:buChar char="•"/>
            </a:pPr>
            <a:r>
              <a:rPr lang="en-US" sz="2000" dirty="0">
                <a:solidFill>
                  <a:srgbClr val="E8F3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Production mindset — signed webhooks, PINs, encrypted secrets, audited admin.</a:t>
            </a:r>
            <a:endParaRPr lang="en-US" sz="2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716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1EC9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 IN 90 SECONDS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E8F3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Show, don’t tell.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40080" y="1737360"/>
            <a:ext cx="10515600" cy="3657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2000" dirty="0">
                <a:solidFill>
                  <a:srgbClr val="E8F3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 a wallet — balance &amp; KYC tier</a:t>
            </a:r>
            <a:endParaRPr lang="en-US" sz="2000" dirty="0"/>
          </a:p>
          <a:p>
            <a:pPr marL="342900" indent="-342900">
              <a:buSzPct val="100000"/>
              <a:buChar char="•"/>
            </a:pPr>
            <a:r>
              <a:rPr lang="en-US" sz="2000" dirty="0">
                <a:solidFill>
                  <a:srgbClr val="E8F3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Send a protected transfer</a:t>
            </a:r>
            <a:endParaRPr lang="en-US" sz="2000" dirty="0"/>
          </a:p>
          <a:p>
            <a:pPr marL="342900" indent="-342900">
              <a:buSzPct val="100000"/>
              <a:buChar char="•"/>
            </a:pPr>
            <a:r>
              <a:rPr lang="en-US" sz="2000" dirty="0">
                <a:solidFill>
                  <a:srgbClr val="E8F3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Receiver sees Payment Protected</a:t>
            </a:r>
            <a:endParaRPr lang="en-US" sz="2000" dirty="0"/>
          </a:p>
          <a:p>
            <a:pPr marL="342900" indent="-342900">
              <a:buSzPct val="100000"/>
              <a:buChar char="•"/>
            </a:pPr>
            <a:r>
              <a:rPr lang="en-US" sz="2000" dirty="0">
                <a:solidFill>
                  <a:srgbClr val="E8F3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Request callback — timeline updates live</a:t>
            </a:r>
            <a:endParaRPr lang="en-US" sz="2000" dirty="0"/>
          </a:p>
          <a:p>
            <a:pPr marL="342900" indent="-342900">
              <a:buSzPct val="100000"/>
              <a:buChar char="•"/>
            </a:pPr>
            <a:r>
              <a:rPr lang="en-US" sz="2000" dirty="0">
                <a:solidFill>
                  <a:srgbClr val="E8F3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Optional: recovery case or admin fraud view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640080" y="5029200"/>
            <a:ext cx="100584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EC9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story: money moved — and I still had control.</a:t>
            </a:r>
            <a:endParaRPr lang="en-US" sz="18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716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1EC9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TEAM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82296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E8F3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RETON PTE LTD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920240"/>
            <a:ext cx="5029200" cy="1645920"/>
          </a:xfrm>
          <a:prstGeom prst="roundRect">
            <a:avLst>
              <a:gd name="adj" fmla="val 11111"/>
            </a:avLst>
          </a:prstGeom>
          <a:solidFill>
            <a:srgbClr val="0F211C"/>
          </a:solidFill>
          <a:ln/>
        </p:spPr>
      </p:sp>
      <p:sp>
        <p:nvSpPr>
          <p:cNvPr id="5" name="Text 3"/>
          <p:cNvSpPr/>
          <p:nvPr/>
        </p:nvSpPr>
        <p:spPr>
          <a:xfrm>
            <a:off x="914400" y="2240280"/>
            <a:ext cx="4572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8F3EE"/>
                </a:solidFill>
              </a:rPr>
              <a:t>Gabriel Rotimi Mogaji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914400" y="269748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AA89D"/>
                </a:solidFill>
              </a:rPr>
              <a:t>Founder &amp; CEO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6035040" y="1920240"/>
            <a:ext cx="5029200" cy="1645920"/>
          </a:xfrm>
          <a:prstGeom prst="roundRect">
            <a:avLst>
              <a:gd name="adj" fmla="val 11111"/>
            </a:avLst>
          </a:prstGeom>
          <a:solidFill>
            <a:srgbClr val="0F211C"/>
          </a:solidFill>
          <a:ln/>
        </p:spPr>
      </p:sp>
      <p:sp>
        <p:nvSpPr>
          <p:cNvPr id="8" name="Text 6"/>
          <p:cNvSpPr/>
          <p:nvPr/>
        </p:nvSpPr>
        <p:spPr>
          <a:xfrm>
            <a:off x="6309360" y="2240280"/>
            <a:ext cx="4572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8F3EE"/>
                </a:solidFill>
              </a:rPr>
              <a:t>Aina Christana Olajumoke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6309360" y="269748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AA89D"/>
                </a:solidFill>
              </a:rPr>
              <a:t>Co-Founder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640080" y="4114800"/>
            <a:ext cx="100584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8AA89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Building Africa’s trust-first payment platform — one protected transfer at a time.</a:t>
            </a:r>
            <a:endParaRPr lang="en-US" sz="18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716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164592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400" kern="0" dirty="0">
                <a:solidFill>
                  <a:srgbClr val="1EC98A"/>
                </a:solidFill>
              </a:rPr>
              <a:t>RETON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640080" y="2103120"/>
            <a:ext cx="10515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E8F3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Money you can take back.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640080" y="3383280"/>
            <a:ext cx="100584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8AA89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Thank you. We’re ready to demo, walk the product, and answer anything.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640080" y="4663440"/>
            <a:ext cx="100584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AA89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retonpay.com  ·  support@retonpay.com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8AA89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7, Greenland Estate, Ikorodu, Lagos  ·  © 2026 RETON PTE LTD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Reton — ALATPay Buildathon</dc:title>
  <dc:subject>Payments you can take back</dc:subject>
  <dc:creator>RETON PTE LTD</dc:creator>
  <cp:lastModifiedBy>RETON PTE LTD</cp:lastModifiedBy>
  <cp:revision>1</cp:revision>
  <dcterms:created xsi:type="dcterms:W3CDTF">2026-07-12T18:12:48Z</dcterms:created>
  <dcterms:modified xsi:type="dcterms:W3CDTF">2026-07-12T18:12:48Z</dcterms:modified>
</cp:coreProperties>
</file>